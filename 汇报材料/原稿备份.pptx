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 type="B5JIS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11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act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62000" y="6604000"/>
            <a:ext cx="11430000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400" b="1">
                <a:solidFill>
                  <a:srgbClr val="FFFFFF"/>
                </a:solidFill>
              </a:rPr>
              <a:t>I.L.Y  </a:t>
            </a:r>
            <a:r>
              <a:rPr lang="zh-CN" altLang="en-US" sz="3400" b="1">
                <a:solidFill>
                  <a:srgbClr val="FFFFFF"/>
                </a:solidFill>
              </a:rPr>
              <a:t>第一章：可探索的叙事游戏</a:t>
            </a:r>
            <a:endParaRPr lang="zh-CN" altLang="en-US" sz="34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33400" y="317500"/>
            <a:ext cx="8890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olidFill>
                  <a:srgbClr val="FFF59C"/>
                </a:solidFill>
              </a:rPr>
              <a:t>体验目标｜从</a:t>
            </a:r>
            <a:r>
              <a:rPr lang="en-US" altLang="zh-CN" sz="2800" b="1">
                <a:solidFill>
                  <a:srgbClr val="FFF59C"/>
                </a:solidFill>
              </a:rPr>
              <a:t>“</a:t>
            </a:r>
            <a:r>
              <a:rPr lang="zh-CN" altLang="en-US" sz="2800" b="1">
                <a:solidFill>
                  <a:srgbClr val="FFF59C"/>
                </a:solidFill>
              </a:rPr>
              <a:t>看故事</a:t>
            </a:r>
            <a:r>
              <a:rPr lang="en-US" altLang="zh-CN" sz="2800" b="1">
                <a:solidFill>
                  <a:srgbClr val="FFF59C"/>
                </a:solidFill>
              </a:rPr>
              <a:t>”</a:t>
            </a:r>
            <a:r>
              <a:rPr lang="zh-CN" altLang="en-US" sz="2800" b="1">
                <a:solidFill>
                  <a:srgbClr val="FFF59C"/>
                </a:solidFill>
              </a:rPr>
              <a:t>到</a:t>
            </a:r>
            <a:r>
              <a:rPr lang="en-US" altLang="zh-CN" sz="2800" b="1">
                <a:solidFill>
                  <a:srgbClr val="FFF59C"/>
                </a:solidFill>
              </a:rPr>
              <a:t>“</a:t>
            </a:r>
            <a:r>
              <a:rPr lang="zh-CN" altLang="en-US" sz="2800" b="1">
                <a:solidFill>
                  <a:srgbClr val="FFF59C"/>
                </a:solidFill>
              </a:rPr>
              <a:t>进入现场</a:t>
            </a:r>
            <a:r>
              <a:rPr lang="en-US" altLang="zh-CN" sz="2800" b="1">
                <a:solidFill>
                  <a:srgbClr val="FFF59C"/>
                </a:solidFill>
              </a:rPr>
              <a:t>”</a:t>
            </a:r>
            <a:endParaRPr lang="en-US" altLang="zh-CN" sz="2800" b="1">
              <a:solidFill>
                <a:srgbClr val="FFF59C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397000"/>
            <a:ext cx="711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rgbClr val="FFFFFF"/>
                </a:solidFill>
              </a:rPr>
              <a:t>对白承载情绪</a:t>
            </a:r>
            <a:r>
              <a:rPr lang="en-US" altLang="zh-CN" sz="2000">
                <a:solidFill>
                  <a:srgbClr val="FFFFFF"/>
                </a:solidFill>
              </a:rPr>
              <a:t>\n</a:t>
            </a:r>
            <a:r>
              <a:rPr lang="zh-CN" altLang="en-US" sz="2000">
                <a:solidFill>
                  <a:srgbClr val="FFFFFF"/>
                </a:solidFill>
              </a:rPr>
              <a:t>地图承载行动</a:t>
            </a:r>
            <a:r>
              <a:rPr lang="en-US" altLang="zh-CN" sz="2000">
                <a:solidFill>
                  <a:srgbClr val="FFFFFF"/>
                </a:solidFill>
              </a:rPr>
              <a:t>\n</a:t>
            </a:r>
            <a:r>
              <a:rPr lang="zh-CN" altLang="en-US" sz="2000">
                <a:solidFill>
                  <a:srgbClr val="FFFFFF"/>
                </a:solidFill>
              </a:rPr>
              <a:t>弹幕承载转折</a:t>
            </a:r>
            <a:r>
              <a:rPr lang="en-US" altLang="zh-CN" sz="2000">
                <a:solidFill>
                  <a:srgbClr val="FFFFFF"/>
                </a:solidFill>
              </a:rPr>
              <a:t>\n\n</a:t>
            </a:r>
            <a:r>
              <a:rPr lang="zh-CN" altLang="en-US" sz="2000">
                <a:solidFill>
                  <a:srgbClr val="FFFFFF"/>
                </a:solidFill>
              </a:rPr>
              <a:t>玩家路径：阅读</a:t>
            </a:r>
            <a:r>
              <a:rPr lang="en-US" altLang="zh-CN" sz="2000">
                <a:solidFill>
                  <a:srgbClr val="FFFFFF"/>
                </a:solidFill>
              </a:rPr>
              <a:t> → </a:t>
            </a:r>
            <a:r>
              <a:rPr lang="zh-CN" altLang="en-US" sz="2000">
                <a:solidFill>
                  <a:srgbClr val="FFFFFF"/>
                </a:solidFill>
              </a:rPr>
              <a:t>探索</a:t>
            </a:r>
            <a:r>
              <a:rPr lang="en-US" altLang="zh-CN" sz="2000">
                <a:solidFill>
                  <a:srgbClr val="FFFFFF"/>
                </a:solidFill>
              </a:rPr>
              <a:t> → </a:t>
            </a:r>
            <a:r>
              <a:rPr lang="zh-CN" altLang="en-US" sz="2000">
                <a:solidFill>
                  <a:srgbClr val="FFFFFF"/>
                </a:solidFill>
              </a:rPr>
              <a:t>选择</a:t>
            </a:r>
            <a:r>
              <a:rPr lang="en-US" altLang="zh-CN" sz="2000">
                <a:solidFill>
                  <a:srgbClr val="FFFFFF"/>
                </a:solidFill>
              </a:rPr>
              <a:t> → </a:t>
            </a:r>
            <a:r>
              <a:rPr lang="zh-CN" altLang="en-US" sz="2000">
                <a:solidFill>
                  <a:srgbClr val="FFFFFF"/>
                </a:solidFill>
              </a:rPr>
              <a:t>反馈</a:t>
            </a:r>
            <a:endParaRPr lang="zh-CN" altLang="en-US" sz="2000">
              <a:solidFill>
                <a:srgbClr val="FFFFFF"/>
              </a:solidFill>
            </a:endParaRPr>
          </a:p>
        </p:txBody>
      </p:sp>
      <p:pic>
        <p:nvPicPr>
          <p:cNvPr id="4" name="图片 3" descr="f985cf9a21eac08fb186a26905031f8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1397000"/>
            <a:ext cx="7112000" cy="546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33400" y="317500"/>
            <a:ext cx="8890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olidFill>
                  <a:srgbClr val="FFF59C"/>
                </a:solidFill>
              </a:rPr>
              <a:t>内容架构｜三种玩法串成一条主线</a:t>
            </a:r>
            <a:endParaRPr lang="zh-CN" altLang="en-US" sz="2800" b="1">
              <a:solidFill>
                <a:srgbClr val="FFF59C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397000"/>
            <a:ext cx="7112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rgbClr val="FFFFFF"/>
                </a:solidFill>
              </a:rPr>
              <a:t>序章：对白、手机、分支</a:t>
            </a:r>
            <a:r>
              <a:rPr lang="en-US" altLang="zh-CN" sz="2000">
                <a:solidFill>
                  <a:srgbClr val="FFFFFF"/>
                </a:solidFill>
              </a:rPr>
              <a:t>\n</a:t>
            </a:r>
            <a:r>
              <a:rPr lang="zh-CN" altLang="en-US" sz="2000">
                <a:solidFill>
                  <a:srgbClr val="FFFFFF"/>
                </a:solidFill>
              </a:rPr>
              <a:t>第一章：八张地图、</a:t>
            </a:r>
            <a:r>
              <a:rPr lang="en-US" altLang="zh-CN" sz="2000">
                <a:solidFill>
                  <a:srgbClr val="FFFFFF"/>
                </a:solidFill>
              </a:rPr>
              <a:t>G1–G5</a:t>
            </a:r>
            <a:r>
              <a:rPr lang="zh-CN" altLang="en-US" sz="2000">
                <a:solidFill>
                  <a:srgbClr val="FFFFFF"/>
                </a:solidFill>
              </a:rPr>
              <a:t>调查、</a:t>
            </a:r>
            <a:r>
              <a:rPr lang="en-US" altLang="zh-CN" sz="2000">
                <a:solidFill>
                  <a:srgbClr val="FFFFFF"/>
                </a:solidFill>
              </a:rPr>
              <a:t>45</a:t>
            </a:r>
            <a:r>
              <a:rPr lang="zh-CN" altLang="en-US" sz="2000">
                <a:solidFill>
                  <a:srgbClr val="FFFFFF"/>
                </a:solidFill>
              </a:rPr>
              <a:t>秒弹幕教学</a:t>
            </a:r>
            <a:r>
              <a:rPr lang="en-US" altLang="zh-CN" sz="2000">
                <a:solidFill>
                  <a:srgbClr val="FFFFFF"/>
                </a:solidFill>
              </a:rPr>
              <a:t>\n</a:t>
            </a:r>
            <a:r>
              <a:rPr lang="zh-CN" altLang="en-US" sz="2000">
                <a:solidFill>
                  <a:srgbClr val="FFFFFF"/>
                </a:solidFill>
              </a:rPr>
              <a:t>第二、三章：已有完整剧情，背景图与人物立绘已积累，当前进行内容接入与整体打磨。</a:t>
            </a:r>
            <a:endParaRPr lang="zh-CN" altLang="en-US" sz="2000">
              <a:solidFill>
                <a:srgbClr val="FFFFFF"/>
              </a:solidFill>
            </a:endParaRPr>
          </a:p>
        </p:txBody>
      </p:sp>
      <p:pic>
        <p:nvPicPr>
          <p:cNvPr id="4" name="图片 3" descr="dialogue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1397000"/>
            <a:ext cx="7112000" cy="546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33400" y="317500"/>
            <a:ext cx="8890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olidFill>
                  <a:srgbClr val="FFF59C"/>
                </a:solidFill>
              </a:rPr>
              <a:t>视觉资产｜叙事场景与角色表现</a:t>
            </a:r>
            <a:endParaRPr lang="zh-CN" altLang="en-US" sz="2800" b="1">
              <a:solidFill>
                <a:srgbClr val="FFF59C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397000"/>
            <a:ext cx="711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rgbClr val="FFFFFF"/>
                </a:solidFill>
              </a:rPr>
              <a:t>背景</a:t>
            </a:r>
            <a:r>
              <a:rPr lang="en-US" altLang="zh-CN" sz="2000">
                <a:solidFill>
                  <a:srgbClr val="FFFFFF"/>
                </a:solidFill>
              </a:rPr>
              <a:t> / CG / </a:t>
            </a:r>
            <a:r>
              <a:rPr lang="zh-CN" altLang="en-US" sz="2000">
                <a:solidFill>
                  <a:srgbClr val="FFFFFF"/>
                </a:solidFill>
              </a:rPr>
              <a:t>立绘</a:t>
            </a:r>
            <a:r>
              <a:rPr lang="en-US" altLang="zh-CN" sz="2000">
                <a:solidFill>
                  <a:srgbClr val="FFFFFF"/>
                </a:solidFill>
              </a:rPr>
              <a:t> / </a:t>
            </a:r>
            <a:r>
              <a:rPr lang="zh-CN" altLang="en-US" sz="2000">
                <a:solidFill>
                  <a:srgbClr val="FFFFFF"/>
                </a:solidFill>
              </a:rPr>
              <a:t>弹幕战斗预览均已形成资产库。</a:t>
            </a:r>
            <a:r>
              <a:rPr lang="en-US" altLang="zh-CN" sz="2000">
                <a:solidFill>
                  <a:srgbClr val="FFFFFF"/>
                </a:solidFill>
              </a:rPr>
              <a:t>\n</a:t>
            </a:r>
            <a:r>
              <a:rPr lang="zh-CN" altLang="en-US" sz="2000">
                <a:solidFill>
                  <a:srgbClr val="FFFFFF"/>
                </a:solidFill>
              </a:rPr>
              <a:t>资源通过</a:t>
            </a:r>
            <a:r>
              <a:rPr lang="en-US" altLang="zh-CN" sz="2000">
                <a:solidFill>
                  <a:srgbClr val="FFFFFF"/>
                </a:solidFill>
              </a:rPr>
              <a:t> assets.js </a:t>
            </a:r>
            <a:r>
              <a:rPr lang="zh-CN" altLang="en-US" sz="2000">
                <a:solidFill>
                  <a:srgbClr val="FFFFFF"/>
                </a:solidFill>
              </a:rPr>
              <a:t>统一登记，替换图片无需改玩法逻辑。</a:t>
            </a:r>
            <a:endParaRPr lang="zh-CN" altLang="en-US" sz="2000">
              <a:solidFill>
                <a:srgbClr val="FFFFFF"/>
              </a:solidFill>
            </a:endParaRPr>
          </a:p>
        </p:txBody>
      </p:sp>
      <p:pic>
        <p:nvPicPr>
          <p:cNvPr id="4" name="图片 3" descr="b63aacb7a9563f2e27b07ee2dfb6b5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1397000"/>
            <a:ext cx="7112000" cy="546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33400" y="317500"/>
            <a:ext cx="8890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olidFill>
                  <a:srgbClr val="FFF59C"/>
                </a:solidFill>
              </a:rPr>
              <a:t>玩法实现｜探索与战斗形成反馈闭环</a:t>
            </a:r>
            <a:endParaRPr lang="zh-CN" altLang="en-US" sz="2800" b="1">
              <a:solidFill>
                <a:srgbClr val="FFF59C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397000"/>
            <a:ext cx="7112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rgbClr val="FFFFFF"/>
                </a:solidFill>
              </a:rPr>
              <a:t>连续移动：浮点坐标、碰撞细分、镜头跟随</a:t>
            </a:r>
            <a:r>
              <a:rPr lang="en-US" altLang="zh-CN" sz="2000">
                <a:solidFill>
                  <a:srgbClr val="FFFFFF"/>
                </a:solidFill>
              </a:rPr>
              <a:t>\n</a:t>
            </a:r>
            <a:r>
              <a:rPr lang="zh-CN" altLang="en-US" sz="2000">
                <a:solidFill>
                  <a:srgbClr val="FFFFFF"/>
                </a:solidFill>
              </a:rPr>
              <a:t>调查任务：靠近</a:t>
            </a:r>
            <a:r>
              <a:rPr lang="en-US" altLang="zh-CN" sz="2000">
                <a:solidFill>
                  <a:srgbClr val="FFFFFF"/>
                </a:solidFill>
              </a:rPr>
              <a:t> → </a:t>
            </a:r>
            <a:r>
              <a:rPr lang="zh-CN" altLang="en-US" sz="2000">
                <a:solidFill>
                  <a:srgbClr val="FFFFFF"/>
                </a:solidFill>
              </a:rPr>
              <a:t>调查</a:t>
            </a:r>
            <a:r>
              <a:rPr lang="en-US" altLang="zh-CN" sz="2000">
                <a:solidFill>
                  <a:srgbClr val="FFFFFF"/>
                </a:solidFill>
              </a:rPr>
              <a:t> → </a:t>
            </a:r>
            <a:r>
              <a:rPr lang="zh-CN" altLang="en-US" sz="2000">
                <a:solidFill>
                  <a:srgbClr val="FFFFFF"/>
                </a:solidFill>
              </a:rPr>
              <a:t>即时反馈</a:t>
            </a:r>
            <a:r>
              <a:rPr lang="en-US" altLang="zh-CN" sz="2000">
                <a:solidFill>
                  <a:srgbClr val="FFFFFF"/>
                </a:solidFill>
              </a:rPr>
              <a:t> → </a:t>
            </a:r>
            <a:r>
              <a:rPr lang="zh-CN" altLang="en-US" sz="2000">
                <a:solidFill>
                  <a:srgbClr val="FFFFFF"/>
                </a:solidFill>
              </a:rPr>
              <a:t>剧情衔接</a:t>
            </a:r>
            <a:r>
              <a:rPr lang="en-US" altLang="zh-CN" sz="2000">
                <a:solidFill>
                  <a:srgbClr val="FFFFFF"/>
                </a:solidFill>
              </a:rPr>
              <a:t>\n</a:t>
            </a:r>
            <a:r>
              <a:rPr lang="zh-CN" altLang="en-US" sz="2000">
                <a:solidFill>
                  <a:srgbClr val="FFFFFF"/>
                </a:solidFill>
              </a:rPr>
              <a:t>弹幕教学：随机波次、预警激光、回血、失败重试</a:t>
            </a:r>
            <a:endParaRPr lang="zh-CN" altLang="en-US" sz="2000">
              <a:solidFill>
                <a:srgbClr val="FFFFFF"/>
              </a:solidFill>
            </a:endParaRPr>
          </a:p>
        </p:txBody>
      </p:sp>
      <p:pic>
        <p:nvPicPr>
          <p:cNvPr id="4" name="图片 3" descr="victo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1397000"/>
            <a:ext cx="7112000" cy="546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33400" y="317500"/>
            <a:ext cx="8890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olidFill>
                  <a:srgbClr val="FFF59C"/>
                </a:solidFill>
              </a:rPr>
              <a:t>工程结构｜数据、引擎、表现分离</a:t>
            </a:r>
            <a:endParaRPr lang="zh-CN" altLang="en-US" sz="2800" b="1">
              <a:solidFill>
                <a:srgbClr val="FFF59C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397000"/>
            <a:ext cx="7112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solidFill>
                  <a:srgbClr val="FFFFFF"/>
                </a:solidFill>
              </a:rPr>
              <a:t>data/story</a:t>
            </a:r>
            <a:r>
              <a:rPr lang="zh-CN" altLang="en-US" sz="2000">
                <a:solidFill>
                  <a:srgbClr val="FFFFFF"/>
                </a:solidFill>
              </a:rPr>
              <a:t>：剧情节点与分支</a:t>
            </a:r>
            <a:r>
              <a:rPr lang="en-US" altLang="zh-CN" sz="2000">
                <a:solidFill>
                  <a:srgbClr val="FFFFFF"/>
                </a:solidFill>
              </a:rPr>
              <a:t>\ndata/maps</a:t>
            </a:r>
            <a:r>
              <a:rPr lang="zh-CN" altLang="en-US" sz="2000">
                <a:solidFill>
                  <a:srgbClr val="FFFFFF"/>
                </a:solidFill>
              </a:rPr>
              <a:t>：</a:t>
            </a:r>
            <a:r>
              <a:rPr lang="en-US" altLang="zh-CN" sz="2000">
                <a:solidFill>
                  <a:srgbClr val="FFFFFF"/>
                </a:solidFill>
              </a:rPr>
              <a:t>JSON</a:t>
            </a:r>
            <a:r>
              <a:rPr lang="zh-CN" altLang="en-US" sz="2000">
                <a:solidFill>
                  <a:srgbClr val="FFFFFF"/>
                </a:solidFill>
              </a:rPr>
              <a:t>地图与事件</a:t>
            </a:r>
            <a:r>
              <a:rPr lang="en-US" altLang="zh-CN" sz="2000">
                <a:solidFill>
                  <a:srgbClr val="FFFFFF"/>
                </a:solidFill>
              </a:rPr>
              <a:t>\nsrc/core</a:t>
            </a:r>
            <a:r>
              <a:rPr lang="zh-CN" altLang="en-US" sz="2000">
                <a:solidFill>
                  <a:srgbClr val="FFFFFF"/>
                </a:solidFill>
              </a:rPr>
              <a:t>：状态、存档、场景</a:t>
            </a:r>
            <a:r>
              <a:rPr lang="en-US" altLang="zh-CN" sz="2000">
                <a:solidFill>
                  <a:srgbClr val="FFFFFF"/>
                </a:solidFill>
              </a:rPr>
              <a:t>\nsrc/modes</a:t>
            </a:r>
            <a:r>
              <a:rPr lang="zh-CN" altLang="en-US" sz="2000">
                <a:solidFill>
                  <a:srgbClr val="FFFFFF"/>
                </a:solidFill>
              </a:rPr>
              <a:t>：对白、手机、</a:t>
            </a:r>
            <a:r>
              <a:rPr lang="en-US" altLang="zh-CN" sz="2000">
                <a:solidFill>
                  <a:srgbClr val="FFFFFF"/>
                </a:solidFill>
              </a:rPr>
              <a:t>RPG</a:t>
            </a:r>
            <a:r>
              <a:rPr lang="zh-CN" altLang="en-US" sz="2000">
                <a:solidFill>
                  <a:srgbClr val="FFFFFF"/>
                </a:solidFill>
              </a:rPr>
              <a:t>、弹幕</a:t>
            </a:r>
            <a:r>
              <a:rPr lang="en-US" altLang="zh-CN" sz="2000">
                <a:solidFill>
                  <a:srgbClr val="FFFFFF"/>
                </a:solidFill>
              </a:rPr>
              <a:t>\nstyles</a:t>
            </a:r>
            <a:r>
              <a:rPr lang="zh-CN" altLang="en-US" sz="2000">
                <a:solidFill>
                  <a:srgbClr val="FFFFFF"/>
                </a:solidFill>
              </a:rPr>
              <a:t>：模块化视觉样式</a:t>
            </a:r>
            <a:endParaRPr lang="zh-CN" altLang="en-US" sz="2000">
              <a:solidFill>
                <a:srgbClr val="FFFFFF"/>
              </a:solidFill>
            </a:endParaRPr>
          </a:p>
        </p:txBody>
      </p:sp>
      <p:pic>
        <p:nvPicPr>
          <p:cNvPr id="4" name="图片 3" descr="c84d44784c8ef43a543a7489391629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1397000"/>
            <a:ext cx="7112000" cy="546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33400" y="317500"/>
            <a:ext cx="8890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olidFill>
                  <a:srgbClr val="FFF59C"/>
                </a:solidFill>
              </a:rPr>
              <a:t>当前进展｜可玩闭环已经跑通</a:t>
            </a:r>
            <a:endParaRPr lang="zh-CN" altLang="en-US" sz="2800" b="1">
              <a:solidFill>
                <a:srgbClr val="FFF59C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397000"/>
            <a:ext cx="7112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rgbClr val="FFFFFF"/>
                </a:solidFill>
              </a:rPr>
              <a:t>✓</a:t>
            </a:r>
            <a:r>
              <a:rPr lang="en-US" altLang="zh-CN" sz="2000">
                <a:solidFill>
                  <a:srgbClr val="FFFFFF"/>
                </a:solidFill>
              </a:rPr>
              <a:t> </a:t>
            </a:r>
            <a:r>
              <a:rPr lang="zh-CN" altLang="en-US" sz="2000">
                <a:solidFill>
                  <a:srgbClr val="FFFFFF"/>
                </a:solidFill>
              </a:rPr>
              <a:t>第一章剧情与</a:t>
            </a:r>
            <a:r>
              <a:rPr lang="en-US" altLang="zh-CN" sz="2000">
                <a:solidFill>
                  <a:srgbClr val="FFFFFF"/>
                </a:solidFill>
              </a:rPr>
              <a:t> A/B/C </a:t>
            </a:r>
            <a:r>
              <a:rPr lang="zh-CN" altLang="en-US" sz="2000">
                <a:solidFill>
                  <a:srgbClr val="FFFFFF"/>
                </a:solidFill>
              </a:rPr>
              <a:t>分支</a:t>
            </a:r>
            <a:r>
              <a:rPr lang="en-US" altLang="zh-CN" sz="2000">
                <a:solidFill>
                  <a:srgbClr val="FFFFFF"/>
                </a:solidFill>
              </a:rPr>
              <a:t>\n</a:t>
            </a:r>
            <a:r>
              <a:rPr lang="zh-CN" altLang="en-US" sz="2000">
                <a:solidFill>
                  <a:srgbClr val="FFFFFF"/>
                </a:solidFill>
              </a:rPr>
              <a:t>✓</a:t>
            </a:r>
            <a:r>
              <a:rPr lang="en-US" altLang="zh-CN" sz="2000">
                <a:solidFill>
                  <a:srgbClr val="FFFFFF"/>
                </a:solidFill>
              </a:rPr>
              <a:t> </a:t>
            </a:r>
            <a:r>
              <a:rPr lang="zh-CN" altLang="en-US" sz="2000">
                <a:solidFill>
                  <a:srgbClr val="FFFFFF"/>
                </a:solidFill>
              </a:rPr>
              <a:t>八张地图与</a:t>
            </a:r>
            <a:r>
              <a:rPr lang="en-US" altLang="zh-CN" sz="2000">
                <a:solidFill>
                  <a:srgbClr val="FFFFFF"/>
                </a:solidFill>
              </a:rPr>
              <a:t> G1–G5 </a:t>
            </a:r>
            <a:r>
              <a:rPr lang="zh-CN" altLang="en-US" sz="2000">
                <a:solidFill>
                  <a:srgbClr val="FFFFFF"/>
                </a:solidFill>
              </a:rPr>
              <a:t>任务</a:t>
            </a:r>
            <a:r>
              <a:rPr lang="en-US" altLang="zh-CN" sz="2000">
                <a:solidFill>
                  <a:srgbClr val="FFFFFF"/>
                </a:solidFill>
              </a:rPr>
              <a:t>\n</a:t>
            </a:r>
            <a:r>
              <a:rPr lang="zh-CN" altLang="en-US" sz="2000">
                <a:solidFill>
                  <a:srgbClr val="FFFFFF"/>
                </a:solidFill>
              </a:rPr>
              <a:t>✓</a:t>
            </a:r>
            <a:r>
              <a:rPr lang="en-US" altLang="zh-CN" sz="2000">
                <a:solidFill>
                  <a:srgbClr val="FFFFFF"/>
                </a:solidFill>
              </a:rPr>
              <a:t> </a:t>
            </a:r>
            <a:r>
              <a:rPr lang="zh-CN" altLang="en-US" sz="2000">
                <a:solidFill>
                  <a:srgbClr val="FFFFFF"/>
                </a:solidFill>
              </a:rPr>
              <a:t>弹幕教学、存档兼容</a:t>
            </a:r>
            <a:r>
              <a:rPr lang="en-US" altLang="zh-CN" sz="2000">
                <a:solidFill>
                  <a:srgbClr val="FFFFFF"/>
                </a:solidFill>
              </a:rPr>
              <a:t>\n</a:t>
            </a:r>
            <a:r>
              <a:rPr lang="zh-CN" altLang="en-US" sz="2000">
                <a:solidFill>
                  <a:srgbClr val="FFFFFF"/>
                </a:solidFill>
              </a:rPr>
              <a:t>✓</a:t>
            </a:r>
            <a:r>
              <a:rPr lang="en-US" altLang="zh-CN" sz="2000">
                <a:solidFill>
                  <a:srgbClr val="FFFFFF"/>
                </a:solidFill>
              </a:rPr>
              <a:t> </a:t>
            </a:r>
            <a:r>
              <a:rPr lang="zh-CN" altLang="en-US" sz="2000">
                <a:solidFill>
                  <a:srgbClr val="FFFFFF"/>
                </a:solidFill>
              </a:rPr>
              <a:t>单元测试</a:t>
            </a:r>
            <a:r>
              <a:rPr lang="en-US" altLang="zh-CN" sz="2000">
                <a:solidFill>
                  <a:srgbClr val="FFFFFF"/>
                </a:solidFill>
              </a:rPr>
              <a:t> 25/25 </a:t>
            </a:r>
            <a:r>
              <a:rPr lang="zh-CN" altLang="en-US" sz="2000">
                <a:solidFill>
                  <a:srgbClr val="FFFFFF"/>
                </a:solidFill>
              </a:rPr>
              <a:t>通过</a:t>
            </a:r>
            <a:r>
              <a:rPr lang="en-US" altLang="zh-CN" sz="2000">
                <a:solidFill>
                  <a:srgbClr val="FFFFFF"/>
                </a:solidFill>
              </a:rPr>
              <a:t>\n\n</a:t>
            </a:r>
            <a:r>
              <a:rPr lang="zh-CN" altLang="en-US" sz="2000">
                <a:solidFill>
                  <a:srgbClr val="FFFFFF"/>
                </a:solidFill>
              </a:rPr>
              <a:t>进行中：正式物件、音画资源、第二三章接入与打磨</a:t>
            </a:r>
            <a:endParaRPr lang="zh-CN" altLang="en-US" sz="2000">
              <a:solidFill>
                <a:srgbClr val="FFFFFF"/>
              </a:solidFill>
            </a:endParaRPr>
          </a:p>
        </p:txBody>
      </p:sp>
      <p:pic>
        <p:nvPicPr>
          <p:cNvPr id="4" name="图片 3" descr="paus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1397000"/>
            <a:ext cx="7112000" cy="546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33400" y="317500"/>
            <a:ext cx="8890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olidFill>
                  <a:srgbClr val="FFF59C"/>
                </a:solidFill>
              </a:rPr>
              <a:t>原型展示｜把设计落到操作上</a:t>
            </a:r>
            <a:endParaRPr lang="zh-CN" altLang="en-US" sz="2800" b="1">
              <a:solidFill>
                <a:srgbClr val="FFF59C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397000"/>
            <a:ext cx="7112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rgbClr val="FFFFFF"/>
                </a:solidFill>
              </a:rPr>
              <a:t>现场顺序：</a:t>
            </a:r>
            <a:r>
              <a:rPr lang="en-US" altLang="zh-CN" sz="2000">
                <a:solidFill>
                  <a:srgbClr val="FFFFFF"/>
                </a:solidFill>
              </a:rPr>
              <a:t>\n1 </a:t>
            </a:r>
            <a:r>
              <a:rPr lang="zh-CN" altLang="en-US" sz="2000">
                <a:solidFill>
                  <a:srgbClr val="FFFFFF"/>
                </a:solidFill>
              </a:rPr>
              <a:t>进入第一章</a:t>
            </a:r>
            <a:r>
              <a:rPr lang="en-US" altLang="zh-CN" sz="2000">
                <a:solidFill>
                  <a:srgbClr val="FFFFFF"/>
                </a:solidFill>
              </a:rPr>
              <a:t>\n2 </a:t>
            </a:r>
            <a:r>
              <a:rPr lang="zh-CN" altLang="en-US" sz="2000">
                <a:solidFill>
                  <a:srgbClr val="FFFFFF"/>
                </a:solidFill>
              </a:rPr>
              <a:t>移动并完成</a:t>
            </a:r>
            <a:r>
              <a:rPr lang="en-US" altLang="zh-CN" sz="2000">
                <a:solidFill>
                  <a:srgbClr val="FFFFFF"/>
                </a:solidFill>
              </a:rPr>
              <a:t> G1 </a:t>
            </a:r>
            <a:r>
              <a:rPr lang="zh-CN" altLang="en-US" sz="2000">
                <a:solidFill>
                  <a:srgbClr val="FFFFFF"/>
                </a:solidFill>
              </a:rPr>
              <a:t>清扫</a:t>
            </a:r>
            <a:r>
              <a:rPr lang="en-US" altLang="zh-CN" sz="2000">
                <a:solidFill>
                  <a:srgbClr val="FFFFFF"/>
                </a:solidFill>
              </a:rPr>
              <a:t>\n3 </a:t>
            </a:r>
            <a:r>
              <a:rPr lang="zh-CN" altLang="en-US" sz="2000">
                <a:solidFill>
                  <a:srgbClr val="FFFFFF"/>
                </a:solidFill>
              </a:rPr>
              <a:t>进入弹幕教学</a:t>
            </a:r>
            <a:r>
              <a:rPr lang="en-US" altLang="zh-CN" sz="2000">
                <a:solidFill>
                  <a:srgbClr val="FFFFFF"/>
                </a:solidFill>
              </a:rPr>
              <a:t>\n4 </a:t>
            </a:r>
            <a:r>
              <a:rPr lang="zh-CN" altLang="en-US" sz="2000">
                <a:solidFill>
                  <a:srgbClr val="FFFFFF"/>
                </a:solidFill>
              </a:rPr>
              <a:t>展示躲避、失败与重试</a:t>
            </a:r>
            <a:r>
              <a:rPr lang="en-US" altLang="zh-CN" sz="2000">
                <a:solidFill>
                  <a:srgbClr val="FFFFFF"/>
                </a:solidFill>
              </a:rPr>
              <a:t>\n5 </a:t>
            </a:r>
            <a:r>
              <a:rPr lang="zh-CN" altLang="en-US" sz="2000">
                <a:solidFill>
                  <a:srgbClr val="FFFFFF"/>
                </a:solidFill>
              </a:rPr>
              <a:t>回到对白，说明玩法如何服务剧情</a:t>
            </a:r>
            <a:r>
              <a:rPr lang="en-US" altLang="zh-CN" sz="2000">
                <a:solidFill>
                  <a:srgbClr val="FFFFFF"/>
                </a:solidFill>
              </a:rPr>
              <a:t>\n\nnpm run chapter1</a:t>
            </a:r>
            <a:endParaRPr lang="en-US" altLang="zh-CN" sz="2000">
              <a:solidFill>
                <a:srgbClr val="FFFFFF"/>
              </a:solidFill>
            </a:endParaRPr>
          </a:p>
        </p:txBody>
      </p:sp>
      <p:pic>
        <p:nvPicPr>
          <p:cNvPr id="4" name="图片 3" descr="st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1397000"/>
            <a:ext cx="7112000" cy="546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33400" y="317500"/>
            <a:ext cx="8890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olidFill>
                  <a:srgbClr val="FFF59C"/>
                </a:solidFill>
              </a:rPr>
              <a:t>谢谢｜从一段对白，走进一张地图</a:t>
            </a:r>
            <a:endParaRPr lang="zh-CN" altLang="en-US" sz="2800" b="1">
              <a:solidFill>
                <a:srgbClr val="FFF59C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397000"/>
            <a:ext cx="711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solidFill>
                  <a:srgbClr val="FFFFFF"/>
                </a:solidFill>
              </a:rPr>
              <a:t>I.L.Y </a:t>
            </a:r>
            <a:r>
              <a:rPr lang="zh-CN" altLang="en-US" sz="2000">
                <a:solidFill>
                  <a:srgbClr val="FFFFFF"/>
                </a:solidFill>
              </a:rPr>
              <a:t>项目总结汇报</a:t>
            </a:r>
            <a:endParaRPr lang="zh-CN" altLang="en-US" sz="2000">
              <a:solidFill>
                <a:srgbClr val="FFFFFF"/>
              </a:solidFill>
            </a:endParaRPr>
          </a:p>
        </p:txBody>
      </p:sp>
      <p:pic>
        <p:nvPicPr>
          <p:cNvPr id="4" name="图片 3" descr="df8204ab48a3f9e9d92d1ab48da682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1397000"/>
            <a:ext cx="7112000" cy="546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692</Words>
  <Application>WPS 演示</Application>
  <PresentationFormat>宽屏</PresentationFormat>
  <Paragraphs>34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微软雅黑</vt:lpstr>
      <vt:lpstr>黑体</vt:lpstr>
      <vt:lpstr>WPS​​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 </cp:lastModifiedBy>
  <cp:revision>6</cp:revision>
  <dcterms:created xsi:type="dcterms:W3CDTF">2023-07-11T07:43:00Z</dcterms:created>
  <dcterms:modified xsi:type="dcterms:W3CDTF">2026-09-12T21:36:41Z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CB10EEB194E84B369701B489891EEDD9_11</vt:lpwstr>
  </property>
</Properties>
</file>